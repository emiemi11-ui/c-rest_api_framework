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17.svg" ContentType="image/svg+xml"/>
  <Override PartName="/ppt/media/image19.svg" ContentType="image/svg+xml"/>
  <Override PartName="/ppt/media/image2.svg" ContentType="image/svg+xml"/>
  <Override PartName="/ppt/media/image29.svg" ContentType="image/svg+xml"/>
  <Override PartName="/ppt/media/image33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8288000" cy="10287000"/>
  <p:notesSz cx="6858000" cy="9144000"/>
  <p:embeddedFontLst>
    <p:embeddedFont>
      <p:font typeface="Sniglet" panose="04070505030100020000"/>
      <p:regular r:id="rId20"/>
    </p:embeddedFont>
    <p:embeddedFont>
      <p:font typeface="Poppins" panose="00000500000000000000"/>
      <p:regular r:id="rId21"/>
    </p:embeddedFont>
    <p:embeddedFont>
      <p:font typeface="DejaVu Serif Bold" panose="02060803050605020204"/>
      <p:bold r:id="rId22"/>
    </p:embeddedFont>
    <p:embeddedFont>
      <p:font typeface="Poppins Bold" panose="00000800000000000000"/>
      <p:bold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svg"/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6.svg"/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0.svg"/><Relationship Id="rId3" Type="http://schemas.openxmlformats.org/officeDocument/2006/relationships/image" Target="../media/image49.png"/><Relationship Id="rId2" Type="http://schemas.openxmlformats.org/officeDocument/2006/relationships/image" Target="../media/image48.svg"/><Relationship Id="rId1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846167" y="1548663"/>
            <a:ext cx="2338040" cy="233804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91905" y="2256418"/>
            <a:ext cx="9152969" cy="3905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95"/>
              </a:lnSpc>
            </a:pPr>
            <a:r>
              <a:rPr lang="en-US" sz="11210">
                <a:solidFill>
                  <a:srgbClr val="FFFFFF"/>
                </a:solidFill>
                <a:latin typeface="Sniglet" panose="04070505030100020000"/>
                <a:ea typeface="Sniglet" panose="04070505030100020000"/>
                <a:cs typeface="Sniglet" panose="04070505030100020000"/>
                <a:sym typeface="Sniglet" panose="04070505030100020000"/>
              </a:rPr>
              <a:t>C++ REST API FRAMEWORK</a:t>
            </a:r>
            <a:endParaRPr lang="en-US" sz="11210">
              <a:solidFill>
                <a:srgbClr val="FFFFFF"/>
              </a:solidFill>
              <a:latin typeface="Sniglet" panose="04070505030100020000"/>
              <a:ea typeface="Sniglet" panose="04070505030100020000"/>
              <a:cs typeface="Sniglet" panose="04070505030100020000"/>
              <a:sym typeface="Sniglet" panose="04070505030100020000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12791821" y="4157133"/>
            <a:ext cx="7140770" cy="714077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9" name="Freeform 9"/>
          <p:cNvSpPr/>
          <p:nvPr/>
        </p:nvSpPr>
        <p:spPr>
          <a:xfrm>
            <a:off x="11994381" y="3070886"/>
            <a:ext cx="4895539" cy="5168036"/>
          </a:xfrm>
          <a:custGeom>
            <a:avLst/>
            <a:gdLst/>
            <a:ahLst/>
            <a:cxnLst/>
            <a:rect l="l" t="t" r="r" b="b"/>
            <a:pathLst>
              <a:path w="4895539" h="5168036">
                <a:moveTo>
                  <a:pt x="0" y="0"/>
                </a:moveTo>
                <a:lnTo>
                  <a:pt x="4895539" y="0"/>
                </a:lnTo>
                <a:lnTo>
                  <a:pt x="4895539" y="5168035"/>
                </a:lnTo>
                <a:lnTo>
                  <a:pt x="0" y="516803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1028700" y="656694"/>
            <a:ext cx="2357470" cy="406320"/>
            <a:chOff x="0" y="0"/>
            <a:chExt cx="620898" cy="10701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14442150" y="656694"/>
            <a:ext cx="2817150" cy="426398"/>
            <a:chOff x="0" y="0"/>
            <a:chExt cx="741965" cy="11230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41965" cy="112302"/>
            </a:xfrm>
            <a:custGeom>
              <a:avLst/>
              <a:gdLst/>
              <a:ahLst/>
              <a:cxnLst/>
              <a:rect l="l" t="t" r="r" b="b"/>
              <a:pathLst>
                <a:path w="741965" h="112302">
                  <a:moveTo>
                    <a:pt x="56151" y="0"/>
                  </a:moveTo>
                  <a:lnTo>
                    <a:pt x="685814" y="0"/>
                  </a:lnTo>
                  <a:cubicBezTo>
                    <a:pt x="716826" y="0"/>
                    <a:pt x="741965" y="25140"/>
                    <a:pt x="741965" y="56151"/>
                  </a:cubicBezTo>
                  <a:lnTo>
                    <a:pt x="741965" y="56151"/>
                  </a:lnTo>
                  <a:cubicBezTo>
                    <a:pt x="741965" y="87163"/>
                    <a:pt x="716826" y="112302"/>
                    <a:pt x="685814" y="112302"/>
                  </a:cubicBezTo>
                  <a:lnTo>
                    <a:pt x="56151" y="112302"/>
                  </a:lnTo>
                  <a:cubicBezTo>
                    <a:pt x="25140" y="112302"/>
                    <a:pt x="0" y="87163"/>
                    <a:pt x="0" y="56151"/>
                  </a:cubicBezTo>
                  <a:lnTo>
                    <a:pt x="0" y="56151"/>
                  </a:lnTo>
                  <a:cubicBezTo>
                    <a:pt x="0" y="25140"/>
                    <a:pt x="25140" y="0"/>
                    <a:pt x="5615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741965" cy="169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48130" y="694436"/>
            <a:ext cx="4069337" cy="55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ECHIPA :Stelea Emilia</a:t>
            </a:r>
            <a:endParaRPr lang="en-US" sz="16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Constantin Diana-Gabriele</a:t>
            </a:r>
            <a:endParaRPr lang="en-US" sz="16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Proiect</a:t>
            </a:r>
            <a:endParaRPr lang="en-US" sz="16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PSO</a:t>
            </a:r>
            <a:endParaRPr lang="en-US" sz="16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Anul3</a:t>
            </a:r>
            <a:endParaRPr lang="en-US" sz="16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91873" y="6196614"/>
            <a:ext cx="9755001" cy="6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O biblioteca care sa sprijine dezvoltarea de REST API </a:t>
            </a:r>
            <a:endParaRPr lang="en-US" sz="19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2660"/>
              </a:lnSpc>
            </a:pPr>
          </a:p>
        </p:txBody>
      </p:sp>
      <p:grpSp>
        <p:nvGrpSpPr>
          <p:cNvPr id="21" name="Group 21"/>
          <p:cNvGrpSpPr/>
          <p:nvPr/>
        </p:nvGrpSpPr>
        <p:grpSpPr>
          <a:xfrm rot="0">
            <a:off x="11577408" y="2559482"/>
            <a:ext cx="1214413" cy="1214413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656694"/>
            <a:ext cx="2357470" cy="406320"/>
            <a:chOff x="0" y="0"/>
            <a:chExt cx="620898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581186" y="8234548"/>
            <a:ext cx="2788622" cy="278862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7137248" y="2216306"/>
            <a:ext cx="1810143" cy="181014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14666389" y="7354116"/>
            <a:ext cx="3232638" cy="2932884"/>
          </a:xfrm>
          <a:custGeom>
            <a:avLst/>
            <a:gdLst/>
            <a:ahLst/>
            <a:cxnLst/>
            <a:rect l="l" t="t" r="r" b="b"/>
            <a:pathLst>
              <a:path w="3232638" h="2932884">
                <a:moveTo>
                  <a:pt x="0" y="0"/>
                </a:moveTo>
                <a:lnTo>
                  <a:pt x="3232638" y="0"/>
                </a:lnTo>
                <a:lnTo>
                  <a:pt x="3232638" y="2932884"/>
                </a:lnTo>
                <a:lnTo>
                  <a:pt x="0" y="293288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389582" y="2581902"/>
            <a:ext cx="2836565" cy="2889094"/>
          </a:xfrm>
          <a:custGeom>
            <a:avLst/>
            <a:gdLst/>
            <a:ahLst/>
            <a:cxnLst/>
            <a:rect l="l" t="t" r="r" b="b"/>
            <a:pathLst>
              <a:path w="2836565" h="2889094">
                <a:moveTo>
                  <a:pt x="0" y="0"/>
                </a:moveTo>
                <a:lnTo>
                  <a:pt x="2836564" y="0"/>
                </a:lnTo>
                <a:lnTo>
                  <a:pt x="2836564" y="2889094"/>
                </a:lnTo>
                <a:lnTo>
                  <a:pt x="0" y="28890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657894" y="4344035"/>
            <a:ext cx="10720753" cy="1669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40"/>
              </a:lnSpc>
            </a:pPr>
            <a:r>
              <a:rPr lang="en-US" sz="31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1.Basic introduction </a:t>
            </a:r>
            <a:endParaRPr lang="en-US" sz="31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340"/>
              </a:lnSpc>
            </a:pPr>
            <a:r>
              <a:rPr lang="en-US" sz="31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2.Prezentare </a:t>
            </a:r>
            <a:endParaRPr lang="en-US" sz="31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4340"/>
              </a:lnSpc>
            </a:pPr>
            <a:endParaRPr lang="en-US" sz="31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024875" y="1973896"/>
            <a:ext cx="11388154" cy="236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45"/>
              </a:lnSpc>
            </a:pPr>
            <a:r>
              <a:rPr lang="en-US" sz="6815">
                <a:solidFill>
                  <a:srgbClr val="FFFFFF"/>
                </a:solidFill>
                <a:latin typeface="Sniglet" panose="04070505030100020000"/>
                <a:ea typeface="Sniglet" panose="04070505030100020000"/>
                <a:cs typeface="Sniglet" panose="04070505030100020000"/>
                <a:sym typeface="Sniglet" panose="04070505030100020000"/>
              </a:rPr>
              <a:t>Cuprins</a:t>
            </a:r>
            <a:endParaRPr lang="en-US" sz="6815">
              <a:solidFill>
                <a:srgbClr val="FFFFFF"/>
              </a:solidFill>
              <a:latin typeface="Sniglet" panose="04070505030100020000"/>
              <a:ea typeface="Sniglet" panose="04070505030100020000"/>
              <a:cs typeface="Sniglet" panose="04070505030100020000"/>
              <a:sym typeface="Sniglet" panose="04070505030100020000"/>
            </a:endParaRPr>
          </a:p>
          <a:p>
            <a:pPr marL="0" lvl="0" indent="0" algn="ctr">
              <a:lnSpc>
                <a:spcPts val="954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538854" y="6979119"/>
            <a:ext cx="7325893" cy="732589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752205" y="3100508"/>
            <a:ext cx="7788000" cy="2042992"/>
          </a:xfrm>
          <a:custGeom>
            <a:avLst/>
            <a:gdLst/>
            <a:ahLst/>
            <a:cxnLst/>
            <a:rect l="l" t="t" r="r" b="b"/>
            <a:pathLst>
              <a:path w="7788000" h="2042992">
                <a:moveTo>
                  <a:pt x="0" y="0"/>
                </a:moveTo>
                <a:lnTo>
                  <a:pt x="7788001" y="0"/>
                </a:lnTo>
                <a:lnTo>
                  <a:pt x="7788001" y="2042992"/>
                </a:lnTo>
                <a:lnTo>
                  <a:pt x="0" y="204299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185" r="-118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819809" y="3642253"/>
            <a:ext cx="7816305" cy="2491447"/>
          </a:xfrm>
          <a:custGeom>
            <a:avLst/>
            <a:gdLst/>
            <a:ahLst/>
            <a:cxnLst/>
            <a:rect l="l" t="t" r="r" b="b"/>
            <a:pathLst>
              <a:path w="7816305" h="2491447">
                <a:moveTo>
                  <a:pt x="0" y="0"/>
                </a:moveTo>
                <a:lnTo>
                  <a:pt x="7816305" y="0"/>
                </a:lnTo>
                <a:lnTo>
                  <a:pt x="7816305" y="2491447"/>
                </a:lnTo>
                <a:lnTo>
                  <a:pt x="0" y="2491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819809" y="2712051"/>
            <a:ext cx="6699840" cy="591919"/>
          </a:xfrm>
          <a:custGeom>
            <a:avLst/>
            <a:gdLst/>
            <a:ahLst/>
            <a:cxnLst/>
            <a:rect l="l" t="t" r="r" b="b"/>
            <a:pathLst>
              <a:path w="6699840" h="591919">
                <a:moveTo>
                  <a:pt x="0" y="0"/>
                </a:moveTo>
                <a:lnTo>
                  <a:pt x="6699840" y="0"/>
                </a:lnTo>
                <a:lnTo>
                  <a:pt x="6699840" y="591919"/>
                </a:lnTo>
                <a:lnTo>
                  <a:pt x="0" y="59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819809" y="6476600"/>
            <a:ext cx="6699840" cy="2956304"/>
          </a:xfrm>
          <a:custGeom>
            <a:avLst/>
            <a:gdLst/>
            <a:ahLst/>
            <a:cxnLst/>
            <a:rect l="l" t="t" r="r" b="b"/>
            <a:pathLst>
              <a:path w="6699840" h="2956304">
                <a:moveTo>
                  <a:pt x="0" y="0"/>
                </a:moveTo>
                <a:lnTo>
                  <a:pt x="6699840" y="0"/>
                </a:lnTo>
                <a:lnTo>
                  <a:pt x="6699840" y="2956304"/>
                </a:lnTo>
                <a:lnTo>
                  <a:pt x="0" y="29563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568791" y="6476600"/>
            <a:ext cx="2796958" cy="880442"/>
          </a:xfrm>
          <a:custGeom>
            <a:avLst/>
            <a:gdLst/>
            <a:ahLst/>
            <a:cxnLst/>
            <a:rect l="l" t="t" r="r" b="b"/>
            <a:pathLst>
              <a:path w="2796958" h="880442">
                <a:moveTo>
                  <a:pt x="0" y="0"/>
                </a:moveTo>
                <a:lnTo>
                  <a:pt x="2796958" y="0"/>
                </a:lnTo>
                <a:lnTo>
                  <a:pt x="2796958" y="880442"/>
                </a:lnTo>
                <a:lnTo>
                  <a:pt x="0" y="880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95308" y="5867060"/>
            <a:ext cx="8012984" cy="2224119"/>
          </a:xfrm>
          <a:custGeom>
            <a:avLst/>
            <a:gdLst/>
            <a:ahLst/>
            <a:cxnLst/>
            <a:rect l="l" t="t" r="r" b="b"/>
            <a:pathLst>
              <a:path w="8012984" h="2224119">
                <a:moveTo>
                  <a:pt x="0" y="0"/>
                </a:moveTo>
                <a:lnTo>
                  <a:pt x="8012984" y="0"/>
                </a:lnTo>
                <a:lnTo>
                  <a:pt x="8012984" y="2224119"/>
                </a:lnTo>
                <a:lnTo>
                  <a:pt x="0" y="22241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358" r="-6358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482793" y="1662396"/>
            <a:ext cx="6326826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80"/>
              </a:lnSpc>
              <a:spcBef>
                <a:spcPct val="0"/>
              </a:spcBef>
            </a:pPr>
            <a:r>
              <a:rPr lang="en-US" sz="7600">
                <a:solidFill>
                  <a:srgbClr val="FFFFFF"/>
                </a:solidFill>
                <a:latin typeface="Sniglet" panose="04070505030100020000"/>
                <a:ea typeface="Sniglet" panose="04070505030100020000"/>
                <a:cs typeface="Sniglet" panose="04070505030100020000"/>
                <a:sym typeface="Sniglet" panose="04070505030100020000"/>
              </a:rPr>
              <a:t>           </a:t>
            </a:r>
            <a:r>
              <a:rPr lang="en-US" sz="7600">
                <a:solidFill>
                  <a:srgbClr val="FFFFFF"/>
                </a:solidFill>
                <a:latin typeface="Sniglet" panose="04070505030100020000"/>
                <a:ea typeface="Sniglet" panose="04070505030100020000"/>
                <a:cs typeface="Sniglet" panose="04070505030100020000"/>
                <a:sym typeface="Sniglet" panose="04070505030100020000"/>
              </a:rPr>
              <a:t>API</a:t>
            </a:r>
            <a:endParaRPr lang="en-US" sz="7600">
              <a:solidFill>
                <a:srgbClr val="FFFFFF"/>
              </a:solidFill>
              <a:latin typeface="Sniglet" panose="04070505030100020000"/>
              <a:ea typeface="Sniglet" panose="04070505030100020000"/>
              <a:cs typeface="Sniglet" panose="04070505030100020000"/>
              <a:sym typeface="Sniglet" panose="0407050503010002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819809" y="1633821"/>
            <a:ext cx="3091880" cy="125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5355">
                <a:solidFill>
                  <a:srgbClr val="FFFFFF"/>
                </a:solidFill>
                <a:latin typeface="Sniglet" panose="04070505030100020000"/>
                <a:ea typeface="Sniglet" panose="04070505030100020000"/>
                <a:cs typeface="Sniglet" panose="04070505030100020000"/>
                <a:sym typeface="Sniglet" panose="04070505030100020000"/>
              </a:rPr>
              <a:t>REST API</a:t>
            </a:r>
            <a:endParaRPr lang="en-US" sz="5355">
              <a:solidFill>
                <a:srgbClr val="FFFFFF"/>
              </a:solidFill>
              <a:latin typeface="Sniglet" panose="04070505030100020000"/>
              <a:ea typeface="Sniglet" panose="04070505030100020000"/>
              <a:cs typeface="Sniglet" panose="04070505030100020000"/>
              <a:sym typeface="Sniglet" panose="04070505030100020000"/>
            </a:endParaRPr>
          </a:p>
          <a:p>
            <a:pPr marL="0" lvl="0" indent="0" algn="l">
              <a:lnSpc>
                <a:spcPts val="4255"/>
              </a:lnSpc>
              <a:spcBef>
                <a:spcPct val="0"/>
              </a:spcBef>
            </a:pPr>
          </a:p>
        </p:txBody>
      </p:sp>
      <p:sp>
        <p:nvSpPr>
          <p:cNvPr id="13" name="TextBox 13"/>
          <p:cNvSpPr txBox="1"/>
          <p:nvPr/>
        </p:nvSpPr>
        <p:spPr>
          <a:xfrm>
            <a:off x="1089088" y="270476"/>
            <a:ext cx="7804845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 b="1">
                <a:solidFill>
                  <a:srgbClr val="000000"/>
                </a:solidFill>
                <a:latin typeface="DejaVu Serif Bold" panose="02060803050605020204"/>
                <a:ea typeface="DejaVu Serif Bold" panose="02060803050605020204"/>
                <a:cs typeface="DejaVu Serif Bold" panose="02060803050605020204"/>
                <a:sym typeface="DejaVu Serif Bold" panose="02060803050605020204"/>
              </a:rPr>
              <a:t>1.Basic introduction</a:t>
            </a:r>
            <a:r>
              <a:rPr lang="en-US" sz="5200" b="1">
                <a:solidFill>
                  <a:srgbClr val="000000"/>
                </a:solidFill>
                <a:latin typeface="DejaVu Serif Bold" panose="02060803050605020204"/>
                <a:ea typeface="DejaVu Serif Bold" panose="02060803050605020204"/>
                <a:cs typeface="DejaVu Serif Bold" panose="02060803050605020204"/>
                <a:sym typeface="DejaVu Serif Bold" panose="02060803050605020204"/>
              </a:rPr>
              <a:t> </a:t>
            </a:r>
            <a:endParaRPr lang="en-US" sz="5200" b="1">
              <a:solidFill>
                <a:srgbClr val="000000"/>
              </a:solidFill>
              <a:latin typeface="DejaVu Serif Bold" panose="02060803050605020204"/>
              <a:ea typeface="DejaVu Serif Bold" panose="02060803050605020204"/>
              <a:cs typeface="DejaVu Serif Bold" panose="02060803050605020204"/>
              <a:sym typeface="DejaVu Serif Bold" panose="02060803050605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656694"/>
            <a:ext cx="2357470" cy="406320"/>
            <a:chOff x="0" y="0"/>
            <a:chExt cx="620898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4442150" y="656694"/>
            <a:ext cx="2817150" cy="406320"/>
            <a:chOff x="0" y="0"/>
            <a:chExt cx="741965" cy="1070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0470394" y="1961876"/>
            <a:ext cx="6239584" cy="623958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-740999" y="6647479"/>
            <a:ext cx="1789130" cy="178913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716912" y="2563379"/>
            <a:ext cx="7442855" cy="2344499"/>
          </a:xfrm>
          <a:custGeom>
            <a:avLst/>
            <a:gdLst/>
            <a:ahLst/>
            <a:cxnLst/>
            <a:rect l="l" t="t" r="r" b="b"/>
            <a:pathLst>
              <a:path w="7442855" h="2344499">
                <a:moveTo>
                  <a:pt x="0" y="0"/>
                </a:moveTo>
                <a:lnTo>
                  <a:pt x="7442854" y="0"/>
                </a:lnTo>
                <a:lnTo>
                  <a:pt x="7442854" y="2344499"/>
                </a:lnTo>
                <a:lnTo>
                  <a:pt x="0" y="234449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159766" y="6000031"/>
            <a:ext cx="10128234" cy="4203217"/>
          </a:xfrm>
          <a:custGeom>
            <a:avLst/>
            <a:gdLst/>
            <a:ahLst/>
            <a:cxnLst/>
            <a:rect l="l" t="t" r="r" b="b"/>
            <a:pathLst>
              <a:path w="10128234" h="4203217">
                <a:moveTo>
                  <a:pt x="0" y="0"/>
                </a:moveTo>
                <a:lnTo>
                  <a:pt x="10128234" y="0"/>
                </a:lnTo>
                <a:lnTo>
                  <a:pt x="10128234" y="4203217"/>
                </a:lnTo>
                <a:lnTo>
                  <a:pt x="0" y="42032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826953" y="2563379"/>
            <a:ext cx="8793861" cy="2396327"/>
          </a:xfrm>
          <a:custGeom>
            <a:avLst/>
            <a:gdLst/>
            <a:ahLst/>
            <a:cxnLst/>
            <a:rect l="l" t="t" r="r" b="b"/>
            <a:pathLst>
              <a:path w="8793861" h="2396327">
                <a:moveTo>
                  <a:pt x="0" y="0"/>
                </a:moveTo>
                <a:lnTo>
                  <a:pt x="8793861" y="0"/>
                </a:lnTo>
                <a:lnTo>
                  <a:pt x="8793861" y="2396327"/>
                </a:lnTo>
                <a:lnTo>
                  <a:pt x="0" y="23963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48130" y="694436"/>
            <a:ext cx="231861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Ingoude Company</a:t>
            </a:r>
            <a:endParaRPr lang="en-US" sz="16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Home</a:t>
            </a:r>
            <a:endParaRPr lang="en-US" sz="16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Video</a:t>
            </a:r>
            <a:endParaRPr lang="en-US" sz="16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Profile</a:t>
            </a:r>
            <a:endParaRPr lang="en-US" sz="16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64260" y="1342275"/>
            <a:ext cx="7679740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80"/>
              </a:lnSpc>
            </a:pPr>
            <a:r>
              <a:rPr lang="en-US" sz="7600">
                <a:solidFill>
                  <a:srgbClr val="FFFFFF"/>
                </a:solidFill>
                <a:latin typeface="Sniglet" panose="04070505030100020000"/>
                <a:ea typeface="Sniglet" panose="04070505030100020000"/>
                <a:cs typeface="Sniglet" panose="04070505030100020000"/>
                <a:sym typeface="Sniglet" panose="04070505030100020000"/>
              </a:rPr>
              <a:t>Basics Of API</a:t>
            </a:r>
            <a:endParaRPr lang="en-US" sz="7600">
              <a:solidFill>
                <a:srgbClr val="FFFFFF"/>
              </a:solidFill>
              <a:latin typeface="Sniglet" panose="04070505030100020000"/>
              <a:ea typeface="Sniglet" panose="04070505030100020000"/>
              <a:cs typeface="Sniglet" panose="04070505030100020000"/>
              <a:sym typeface="Sniglet" panose="0407050503010002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075363" y="3393364"/>
            <a:ext cx="3372743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Uniform Resource Identifiser</a:t>
            </a:r>
            <a:endParaRPr lang="en-US" sz="1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64260" y="4850728"/>
            <a:ext cx="6230764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differentiate different types of resources on a server</a:t>
            </a:r>
            <a:endParaRPr lang="en-US" sz="1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518187" y="2226942"/>
            <a:ext cx="3725622" cy="372562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5407265" y="8888630"/>
            <a:ext cx="3725622" cy="372562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0" y="6657414"/>
            <a:ext cx="4074025" cy="3629586"/>
          </a:xfrm>
          <a:custGeom>
            <a:avLst/>
            <a:gdLst/>
            <a:ahLst/>
            <a:cxnLst/>
            <a:rect l="l" t="t" r="r" b="b"/>
            <a:pathLst>
              <a:path w="4074025" h="3629586">
                <a:moveTo>
                  <a:pt x="4074025" y="0"/>
                </a:moveTo>
                <a:lnTo>
                  <a:pt x="0" y="0"/>
                </a:lnTo>
                <a:lnTo>
                  <a:pt x="0" y="3629586"/>
                </a:lnTo>
                <a:lnTo>
                  <a:pt x="4074025" y="3629586"/>
                </a:lnTo>
                <a:lnTo>
                  <a:pt x="4074025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939561" y="7097985"/>
            <a:ext cx="2639478" cy="2944651"/>
          </a:xfrm>
          <a:custGeom>
            <a:avLst/>
            <a:gdLst/>
            <a:ahLst/>
            <a:cxnLst/>
            <a:rect l="l" t="t" r="r" b="b"/>
            <a:pathLst>
              <a:path w="2639478" h="2944651">
                <a:moveTo>
                  <a:pt x="0" y="0"/>
                </a:moveTo>
                <a:lnTo>
                  <a:pt x="2639478" y="0"/>
                </a:lnTo>
                <a:lnTo>
                  <a:pt x="2639478" y="2944651"/>
                </a:lnTo>
                <a:lnTo>
                  <a:pt x="0" y="29446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60929" y="457683"/>
            <a:ext cx="11301259" cy="4181466"/>
          </a:xfrm>
          <a:custGeom>
            <a:avLst/>
            <a:gdLst/>
            <a:ahLst/>
            <a:cxnLst/>
            <a:rect l="l" t="t" r="r" b="b"/>
            <a:pathLst>
              <a:path w="11301259" h="4181466">
                <a:moveTo>
                  <a:pt x="0" y="0"/>
                </a:moveTo>
                <a:lnTo>
                  <a:pt x="11301259" y="0"/>
                </a:lnTo>
                <a:lnTo>
                  <a:pt x="11301259" y="4181466"/>
                </a:lnTo>
                <a:lnTo>
                  <a:pt x="0" y="41814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385356" y="5143500"/>
            <a:ext cx="5627255" cy="2768809"/>
          </a:xfrm>
          <a:custGeom>
            <a:avLst/>
            <a:gdLst/>
            <a:ahLst/>
            <a:cxnLst/>
            <a:rect l="l" t="t" r="r" b="b"/>
            <a:pathLst>
              <a:path w="5627255" h="2768809">
                <a:moveTo>
                  <a:pt x="0" y="0"/>
                </a:moveTo>
                <a:lnTo>
                  <a:pt x="5627255" y="0"/>
                </a:lnTo>
                <a:lnTo>
                  <a:pt x="5627255" y="2768809"/>
                </a:lnTo>
                <a:lnTo>
                  <a:pt x="0" y="27688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363606" y="5143500"/>
            <a:ext cx="3185670" cy="1265366"/>
          </a:xfrm>
          <a:custGeom>
            <a:avLst/>
            <a:gdLst/>
            <a:ahLst/>
            <a:cxnLst/>
            <a:rect l="l" t="t" r="r" b="b"/>
            <a:pathLst>
              <a:path w="3185670" h="1265366">
                <a:moveTo>
                  <a:pt x="0" y="0"/>
                </a:moveTo>
                <a:lnTo>
                  <a:pt x="3185670" y="0"/>
                </a:lnTo>
                <a:lnTo>
                  <a:pt x="3185670" y="1265366"/>
                </a:lnTo>
                <a:lnTo>
                  <a:pt x="0" y="12653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363606" y="6618877"/>
            <a:ext cx="8055905" cy="3423760"/>
          </a:xfrm>
          <a:custGeom>
            <a:avLst/>
            <a:gdLst/>
            <a:ahLst/>
            <a:cxnLst/>
            <a:rect l="l" t="t" r="r" b="b"/>
            <a:pathLst>
              <a:path w="8055905" h="3423760">
                <a:moveTo>
                  <a:pt x="0" y="0"/>
                </a:moveTo>
                <a:lnTo>
                  <a:pt x="8055905" y="0"/>
                </a:lnTo>
                <a:lnTo>
                  <a:pt x="8055905" y="3423759"/>
                </a:lnTo>
                <a:lnTo>
                  <a:pt x="0" y="34237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578523" y="4296884"/>
            <a:ext cx="7066955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Interacțiune client-server prin HTTP (GET, POST, PUT, DELETE)</a:t>
            </a:r>
            <a:endParaRPr lang="en-US" sz="1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1549276" y="9700371"/>
            <a:ext cx="3699197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Date transmise în format JSON</a:t>
            </a:r>
            <a:endParaRPr lang="en-US" sz="1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396489" y="-1206117"/>
            <a:ext cx="3725622" cy="372562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1862811" y="8424189"/>
            <a:ext cx="3725622" cy="372562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287754" y="642044"/>
            <a:ext cx="10217475" cy="3754922"/>
          </a:xfrm>
          <a:custGeom>
            <a:avLst/>
            <a:gdLst/>
            <a:ahLst/>
            <a:cxnLst/>
            <a:rect l="l" t="t" r="r" b="b"/>
            <a:pathLst>
              <a:path w="10217475" h="3754922">
                <a:moveTo>
                  <a:pt x="0" y="0"/>
                </a:moveTo>
                <a:lnTo>
                  <a:pt x="10217475" y="0"/>
                </a:lnTo>
                <a:lnTo>
                  <a:pt x="10217475" y="3754922"/>
                </a:lnTo>
                <a:lnTo>
                  <a:pt x="0" y="375492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889552" y="817458"/>
            <a:ext cx="6398448" cy="1327678"/>
          </a:xfrm>
          <a:custGeom>
            <a:avLst/>
            <a:gdLst/>
            <a:ahLst/>
            <a:cxnLst/>
            <a:rect l="l" t="t" r="r" b="b"/>
            <a:pathLst>
              <a:path w="6398448" h="1327678">
                <a:moveTo>
                  <a:pt x="0" y="0"/>
                </a:moveTo>
                <a:lnTo>
                  <a:pt x="6398448" y="0"/>
                </a:lnTo>
                <a:lnTo>
                  <a:pt x="6398448" y="1327678"/>
                </a:lnTo>
                <a:lnTo>
                  <a:pt x="0" y="1327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0" y="4809906"/>
            <a:ext cx="8711148" cy="4954466"/>
          </a:xfrm>
          <a:custGeom>
            <a:avLst/>
            <a:gdLst/>
            <a:ahLst/>
            <a:cxnLst/>
            <a:rect l="l" t="t" r="r" b="b"/>
            <a:pathLst>
              <a:path w="8711148" h="4954466">
                <a:moveTo>
                  <a:pt x="0" y="0"/>
                </a:moveTo>
                <a:lnTo>
                  <a:pt x="8711148" y="0"/>
                </a:lnTo>
                <a:lnTo>
                  <a:pt x="8711148" y="4954466"/>
                </a:lnTo>
                <a:lnTo>
                  <a:pt x="0" y="4954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144000" y="4809906"/>
            <a:ext cx="8261217" cy="3614283"/>
          </a:xfrm>
          <a:custGeom>
            <a:avLst/>
            <a:gdLst/>
            <a:ahLst/>
            <a:cxnLst/>
            <a:rect l="l" t="t" r="r" b="b"/>
            <a:pathLst>
              <a:path w="8261217" h="3614283">
                <a:moveTo>
                  <a:pt x="0" y="0"/>
                </a:moveTo>
                <a:lnTo>
                  <a:pt x="8261217" y="0"/>
                </a:lnTo>
                <a:lnTo>
                  <a:pt x="8261217" y="3614283"/>
                </a:lnTo>
                <a:lnTo>
                  <a:pt x="0" y="3614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170761" y="3729217"/>
            <a:ext cx="8786882" cy="878688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73269" y="1678143"/>
            <a:ext cx="10115687" cy="1457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5"/>
              </a:lnSpc>
            </a:pPr>
            <a:r>
              <a:rPr lang="en-US" sz="5385">
                <a:solidFill>
                  <a:srgbClr val="FFFFFF"/>
                </a:solidFill>
                <a:latin typeface="Sniglet" panose="04070505030100020000"/>
                <a:ea typeface="Sniglet" panose="04070505030100020000"/>
                <a:cs typeface="Sniglet" panose="04070505030100020000"/>
                <a:sym typeface="Sniglet" panose="04070505030100020000"/>
              </a:rPr>
              <a:t>un server minimal de tip REST</a:t>
            </a:r>
            <a:endParaRPr lang="en-US" sz="5385">
              <a:solidFill>
                <a:srgbClr val="FFFFFF"/>
              </a:solidFill>
              <a:latin typeface="Sniglet" panose="04070505030100020000"/>
              <a:ea typeface="Sniglet" panose="04070505030100020000"/>
              <a:cs typeface="Sniglet" panose="04070505030100020000"/>
              <a:sym typeface="Sniglet" panose="04070505030100020000"/>
            </a:endParaRPr>
          </a:p>
          <a:p>
            <a:pPr marL="0" lvl="0" indent="0" algn="ctr">
              <a:lnSpc>
                <a:spcPts val="5655"/>
              </a:lnSpc>
              <a:spcBef>
                <a:spcPct val="0"/>
              </a:spcBef>
            </a:pPr>
          </a:p>
        </p:txBody>
      </p:sp>
      <p:grpSp>
        <p:nvGrpSpPr>
          <p:cNvPr id="6" name="Group 6"/>
          <p:cNvGrpSpPr/>
          <p:nvPr/>
        </p:nvGrpSpPr>
        <p:grpSpPr>
          <a:xfrm rot="0">
            <a:off x="-720488" y="1735612"/>
            <a:ext cx="2218248" cy="221824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9" name="Freeform 9"/>
          <p:cNvSpPr/>
          <p:nvPr/>
        </p:nvSpPr>
        <p:spPr>
          <a:xfrm>
            <a:off x="-1383479" y="2418852"/>
            <a:ext cx="2766957" cy="2787228"/>
          </a:xfrm>
          <a:custGeom>
            <a:avLst/>
            <a:gdLst/>
            <a:ahLst/>
            <a:cxnLst/>
            <a:rect l="l" t="t" r="r" b="b"/>
            <a:pathLst>
              <a:path w="2766957" h="2787228">
                <a:moveTo>
                  <a:pt x="0" y="0"/>
                </a:moveTo>
                <a:lnTo>
                  <a:pt x="2766958" y="0"/>
                </a:lnTo>
                <a:lnTo>
                  <a:pt x="2766958" y="2787228"/>
                </a:lnTo>
                <a:lnTo>
                  <a:pt x="0" y="278722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173269" y="3729217"/>
            <a:ext cx="11301259" cy="5904908"/>
          </a:xfrm>
          <a:custGeom>
            <a:avLst/>
            <a:gdLst/>
            <a:ahLst/>
            <a:cxnLst/>
            <a:rect l="l" t="t" r="r" b="b"/>
            <a:pathLst>
              <a:path w="11301259" h="5904908">
                <a:moveTo>
                  <a:pt x="0" y="0"/>
                </a:moveTo>
                <a:lnTo>
                  <a:pt x="11301259" y="0"/>
                </a:lnTo>
                <a:lnTo>
                  <a:pt x="11301259" y="5904908"/>
                </a:lnTo>
                <a:lnTo>
                  <a:pt x="0" y="5904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173269" y="562317"/>
            <a:ext cx="8804374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 b="1">
                <a:solidFill>
                  <a:srgbClr val="000000"/>
                </a:solidFill>
                <a:latin typeface="DejaVu Serif Bold" panose="02060803050605020204"/>
                <a:ea typeface="DejaVu Serif Bold" panose="02060803050605020204"/>
                <a:cs typeface="DejaVu Serif Bold" panose="02060803050605020204"/>
                <a:sym typeface="DejaVu Serif Bold" panose="02060803050605020204"/>
              </a:rPr>
              <a:t>     2.Prezentare </a:t>
            </a:r>
            <a:endParaRPr lang="en-US" sz="5200" b="1">
              <a:solidFill>
                <a:srgbClr val="000000"/>
              </a:solidFill>
              <a:latin typeface="DejaVu Serif Bold" panose="02060803050605020204"/>
              <a:ea typeface="DejaVu Serif Bold" panose="02060803050605020204"/>
              <a:cs typeface="DejaVu Serif Bold" panose="02060803050605020204"/>
              <a:sym typeface="DejaVu Serif Bold" panose="02060803050605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79394" y="2311654"/>
            <a:ext cx="12289010" cy="100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Proiectul este un framework minimal pentru dezvoltarea de aplicații tip REST API în C++. Nu își propune să concureze cu framework-uri mari, ci să arate mecanismele interne: server TCP, concurență, rutare, IPC și persistență cu SQLite.</a:t>
            </a:r>
            <a:endParaRPr lang="en-US" sz="1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88637" y="4172935"/>
            <a:ext cx="4568383" cy="363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0"/>
              </a:lnSpc>
              <a:spcBef>
                <a:spcPct val="0"/>
              </a:spcBef>
            </a:pPr>
            <a:r>
              <a:rPr lang="en-US" sz="2045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.</a:t>
            </a:r>
            <a:endParaRPr lang="en-US" sz="2045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625723" y="-482826"/>
            <a:ext cx="3023051" cy="30230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400461" y="1486079"/>
            <a:ext cx="10247870" cy="3976905"/>
            <a:chOff x="0" y="0"/>
            <a:chExt cx="812800" cy="3154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315424"/>
            </a:xfrm>
            <a:custGeom>
              <a:avLst/>
              <a:gdLst/>
              <a:ahLst/>
              <a:cxnLst/>
              <a:rect l="l" t="t" r="r" b="b"/>
              <a:pathLst>
                <a:path w="812800" h="315424">
                  <a:moveTo>
                    <a:pt x="406400" y="0"/>
                  </a:moveTo>
                  <a:cubicBezTo>
                    <a:pt x="181951" y="0"/>
                    <a:pt x="0" y="70610"/>
                    <a:pt x="0" y="157712"/>
                  </a:cubicBezTo>
                  <a:cubicBezTo>
                    <a:pt x="0" y="244814"/>
                    <a:pt x="181951" y="315424"/>
                    <a:pt x="406400" y="315424"/>
                  </a:cubicBezTo>
                  <a:cubicBezTo>
                    <a:pt x="630849" y="315424"/>
                    <a:pt x="812800" y="244814"/>
                    <a:pt x="812800" y="157712"/>
                  </a:cubicBezTo>
                  <a:cubicBezTo>
                    <a:pt x="812800" y="70610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-27579"/>
              <a:ext cx="660400" cy="3134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Poppins" panose="00000500000000000000"/>
                  <a:ea typeface="Poppins" panose="00000500000000000000"/>
                  <a:cs typeface="Poppins" panose="00000500000000000000"/>
                  <a:sym typeface="Poppins" panose="00000500000000000000"/>
                </a:rPr>
                <a:t>Controller Layer - parsează request-ul-cereri HTTP (GET/POST/PUT/DELETE)</a:t>
              </a:r>
              <a:endParaRPr lang="en-US" sz="1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endParaRPr>
            </a:p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Poppins" panose="00000500000000000000"/>
                  <a:ea typeface="Poppins" panose="00000500000000000000"/>
                  <a:cs typeface="Poppins" panose="00000500000000000000"/>
                  <a:sym typeface="Poppins" panose="00000500000000000000"/>
                </a:rPr>
                <a:t>decide ce funcție de Service să apeleze</a:t>
              </a:r>
              <a:endParaRPr lang="en-US" sz="1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endParaRPr>
            </a:p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Poppins" panose="00000500000000000000"/>
                  <a:ea typeface="Poppins" panose="00000500000000000000"/>
                  <a:cs typeface="Poppins" panose="00000500000000000000"/>
                  <a:sym typeface="Poppins" panose="00000500000000000000"/>
                </a:rPr>
                <a:t>Service Layer - Implementează logica aplicației (business logic)</a:t>
              </a:r>
              <a:endParaRPr lang="en-US" sz="1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endParaRPr>
            </a:p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Poppins" panose="00000500000000000000"/>
                  <a:ea typeface="Poppins" panose="00000500000000000000"/>
                  <a:cs typeface="Poppins" panose="00000500000000000000"/>
                  <a:sym typeface="Poppins" panose="00000500000000000000"/>
                </a:rPr>
                <a:t>(ce returnezi, ce mesaje, formare JSON simplu)</a:t>
              </a:r>
              <a:endParaRPr lang="en-US" sz="1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endParaRPr>
            </a:p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Poppins" panose="00000500000000000000"/>
                  <a:ea typeface="Poppins" panose="00000500000000000000"/>
                  <a:cs typeface="Poppins" panose="00000500000000000000"/>
                  <a:sym typeface="Poppins" panose="00000500000000000000"/>
                </a:rPr>
                <a:t>Model/Data Layer - Acces date abstractizata--CRUD--Repository (metode gen get/add/delete/update) + Database--SQLite)</a:t>
              </a:r>
              <a:endParaRPr lang="en-US" sz="1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endParaRPr>
            </a:p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000000"/>
                  </a:solidFill>
                  <a:latin typeface="Poppins" panose="00000500000000000000"/>
                  <a:ea typeface="Poppins" panose="00000500000000000000"/>
                  <a:cs typeface="Poppins" panose="00000500000000000000"/>
                  <a:sym typeface="Poppins" panose="00000500000000000000"/>
                </a:rPr>
                <a:t>View/Response Layer - Construiește răspunsuri HTTP/JSON</a:t>
              </a:r>
              <a:endParaRPr lang="en-US" sz="1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endParaRPr>
            </a:p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7145421" y="4766516"/>
            <a:ext cx="9991827" cy="5520484"/>
          </a:xfrm>
          <a:custGeom>
            <a:avLst/>
            <a:gdLst/>
            <a:ahLst/>
            <a:cxnLst/>
            <a:rect l="l" t="t" r="r" b="b"/>
            <a:pathLst>
              <a:path w="9991827" h="5520484">
                <a:moveTo>
                  <a:pt x="0" y="0"/>
                </a:moveTo>
                <a:lnTo>
                  <a:pt x="9991827" y="0"/>
                </a:lnTo>
                <a:lnTo>
                  <a:pt x="9991827" y="5520484"/>
                </a:lnTo>
                <a:lnTo>
                  <a:pt x="0" y="5520484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31189" y="852617"/>
            <a:ext cx="7812811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80"/>
              </a:lnSpc>
              <a:spcBef>
                <a:spcPct val="0"/>
              </a:spcBef>
            </a:pPr>
            <a:r>
              <a:rPr lang="en-US" sz="7600">
                <a:solidFill>
                  <a:srgbClr val="FFFFFF"/>
                </a:solidFill>
                <a:latin typeface="Sniglet" panose="04070505030100020000"/>
                <a:ea typeface="Sniglet" panose="04070505030100020000"/>
                <a:cs typeface="Sniglet" panose="04070505030100020000"/>
                <a:sym typeface="Sniglet" panose="04070505030100020000"/>
              </a:rPr>
              <a:t>Pattern MVCS</a:t>
            </a:r>
            <a:endParaRPr lang="en-US" sz="7600">
              <a:solidFill>
                <a:srgbClr val="FFFFFF"/>
              </a:solidFill>
              <a:latin typeface="Sniglet" panose="04070505030100020000"/>
              <a:ea typeface="Sniglet" panose="04070505030100020000"/>
              <a:cs typeface="Sniglet" panose="04070505030100020000"/>
              <a:sym typeface="Sniglet" panose="0407050503010002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361530" y="3415790"/>
            <a:ext cx="7812811" cy="1049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80"/>
              </a:lnSpc>
              <a:spcBef>
                <a:spcPct val="0"/>
              </a:spcBef>
            </a:pPr>
            <a:r>
              <a:rPr lang="en-US" sz="7600">
                <a:solidFill>
                  <a:srgbClr val="FFFFFF"/>
                </a:solidFill>
                <a:latin typeface="Sniglet" panose="04070505030100020000"/>
                <a:ea typeface="Sniglet" panose="04070505030100020000"/>
                <a:cs typeface="Sniglet" panose="04070505030100020000"/>
                <a:sym typeface="Sniglet" panose="04070505030100020000"/>
              </a:rPr>
              <a:t>Flux</a:t>
            </a:r>
            <a:r>
              <a:rPr lang="en-US" sz="7600">
                <a:solidFill>
                  <a:srgbClr val="FFFFFF"/>
                </a:solidFill>
                <a:latin typeface="Sniglet" panose="04070505030100020000"/>
                <a:ea typeface="Sniglet" panose="04070505030100020000"/>
                <a:cs typeface="Sniglet" panose="04070505030100020000"/>
                <a:sym typeface="Sniglet" panose="04070505030100020000"/>
              </a:rPr>
              <a:t> </a:t>
            </a:r>
            <a:r>
              <a:rPr lang="en-US" sz="7600">
                <a:solidFill>
                  <a:srgbClr val="FFFFFF"/>
                </a:solidFill>
                <a:latin typeface="Sniglet" panose="04070505030100020000"/>
                <a:ea typeface="Sniglet" panose="04070505030100020000"/>
                <a:cs typeface="Sniglet" panose="04070505030100020000"/>
                <a:sym typeface="Sniglet" panose="04070505030100020000"/>
              </a:rPr>
              <a:t>cerere</a:t>
            </a:r>
            <a:endParaRPr lang="en-US" sz="7600">
              <a:solidFill>
                <a:srgbClr val="FFFFFF"/>
              </a:solidFill>
              <a:latin typeface="Sniglet" panose="04070505030100020000"/>
              <a:ea typeface="Sniglet" panose="04070505030100020000"/>
              <a:cs typeface="Sniglet" panose="04070505030100020000"/>
              <a:sym typeface="Sniglet" panose="0407050503010002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2054932" y="2036599"/>
            <a:ext cx="398339" cy="406320"/>
            <a:chOff x="0" y="0"/>
            <a:chExt cx="104912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912" cy="107014"/>
            </a:xfrm>
            <a:custGeom>
              <a:avLst/>
              <a:gdLst/>
              <a:ahLst/>
              <a:cxnLst/>
              <a:rect l="l" t="t" r="r" b="b"/>
              <a:pathLst>
                <a:path w="104912" h="107014">
                  <a:moveTo>
                    <a:pt x="52456" y="0"/>
                  </a:moveTo>
                  <a:lnTo>
                    <a:pt x="52456" y="0"/>
                  </a:lnTo>
                  <a:cubicBezTo>
                    <a:pt x="66368" y="0"/>
                    <a:pt x="79711" y="5527"/>
                    <a:pt x="89548" y="15364"/>
                  </a:cubicBezTo>
                  <a:cubicBezTo>
                    <a:pt x="99386" y="25201"/>
                    <a:pt x="104912" y="38544"/>
                    <a:pt x="104912" y="52456"/>
                  </a:cubicBezTo>
                  <a:lnTo>
                    <a:pt x="104912" y="54558"/>
                  </a:lnTo>
                  <a:cubicBezTo>
                    <a:pt x="104912" y="83529"/>
                    <a:pt x="81427" y="107014"/>
                    <a:pt x="52456" y="107014"/>
                  </a:cubicBezTo>
                  <a:lnTo>
                    <a:pt x="52456" y="107014"/>
                  </a:lnTo>
                  <a:cubicBezTo>
                    <a:pt x="38544" y="107014"/>
                    <a:pt x="25201" y="101488"/>
                    <a:pt x="15364" y="91650"/>
                  </a:cubicBezTo>
                  <a:cubicBezTo>
                    <a:pt x="5527" y="81813"/>
                    <a:pt x="0" y="68470"/>
                    <a:pt x="0" y="54558"/>
                  </a:cubicBezTo>
                  <a:lnTo>
                    <a:pt x="0" y="52456"/>
                  </a:lnTo>
                  <a:cubicBezTo>
                    <a:pt x="0" y="23485"/>
                    <a:pt x="23485" y="0"/>
                    <a:pt x="524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04912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960715" y="3920085"/>
            <a:ext cx="398339" cy="406320"/>
            <a:chOff x="0" y="0"/>
            <a:chExt cx="104912" cy="1070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4912" cy="107014"/>
            </a:xfrm>
            <a:custGeom>
              <a:avLst/>
              <a:gdLst/>
              <a:ahLst/>
              <a:cxnLst/>
              <a:rect l="l" t="t" r="r" b="b"/>
              <a:pathLst>
                <a:path w="104912" h="107014">
                  <a:moveTo>
                    <a:pt x="52456" y="0"/>
                  </a:moveTo>
                  <a:lnTo>
                    <a:pt x="52456" y="0"/>
                  </a:lnTo>
                  <a:cubicBezTo>
                    <a:pt x="66368" y="0"/>
                    <a:pt x="79711" y="5527"/>
                    <a:pt x="89548" y="15364"/>
                  </a:cubicBezTo>
                  <a:cubicBezTo>
                    <a:pt x="99386" y="25201"/>
                    <a:pt x="104912" y="38544"/>
                    <a:pt x="104912" y="52456"/>
                  </a:cubicBezTo>
                  <a:lnTo>
                    <a:pt x="104912" y="54558"/>
                  </a:lnTo>
                  <a:cubicBezTo>
                    <a:pt x="104912" y="83529"/>
                    <a:pt x="81427" y="107014"/>
                    <a:pt x="52456" y="107014"/>
                  </a:cubicBezTo>
                  <a:lnTo>
                    <a:pt x="52456" y="107014"/>
                  </a:lnTo>
                  <a:cubicBezTo>
                    <a:pt x="38544" y="107014"/>
                    <a:pt x="25201" y="101488"/>
                    <a:pt x="15364" y="91650"/>
                  </a:cubicBezTo>
                  <a:cubicBezTo>
                    <a:pt x="5527" y="81813"/>
                    <a:pt x="0" y="68470"/>
                    <a:pt x="0" y="54558"/>
                  </a:cubicBezTo>
                  <a:lnTo>
                    <a:pt x="0" y="52456"/>
                  </a:lnTo>
                  <a:cubicBezTo>
                    <a:pt x="0" y="23485"/>
                    <a:pt x="23485" y="0"/>
                    <a:pt x="524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04912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855762" y="4296523"/>
            <a:ext cx="398339" cy="406320"/>
            <a:chOff x="0" y="0"/>
            <a:chExt cx="104912" cy="1070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912" cy="107014"/>
            </a:xfrm>
            <a:custGeom>
              <a:avLst/>
              <a:gdLst/>
              <a:ahLst/>
              <a:cxnLst/>
              <a:rect l="l" t="t" r="r" b="b"/>
              <a:pathLst>
                <a:path w="104912" h="107014">
                  <a:moveTo>
                    <a:pt x="52456" y="0"/>
                  </a:moveTo>
                  <a:lnTo>
                    <a:pt x="52456" y="0"/>
                  </a:lnTo>
                  <a:cubicBezTo>
                    <a:pt x="66368" y="0"/>
                    <a:pt x="79711" y="5527"/>
                    <a:pt x="89548" y="15364"/>
                  </a:cubicBezTo>
                  <a:cubicBezTo>
                    <a:pt x="99386" y="25201"/>
                    <a:pt x="104912" y="38544"/>
                    <a:pt x="104912" y="52456"/>
                  </a:cubicBezTo>
                  <a:lnTo>
                    <a:pt x="104912" y="54558"/>
                  </a:lnTo>
                  <a:cubicBezTo>
                    <a:pt x="104912" y="83529"/>
                    <a:pt x="81427" y="107014"/>
                    <a:pt x="52456" y="107014"/>
                  </a:cubicBezTo>
                  <a:lnTo>
                    <a:pt x="52456" y="107014"/>
                  </a:lnTo>
                  <a:cubicBezTo>
                    <a:pt x="38544" y="107014"/>
                    <a:pt x="25201" y="101488"/>
                    <a:pt x="15364" y="91650"/>
                  </a:cubicBezTo>
                  <a:cubicBezTo>
                    <a:pt x="5527" y="81813"/>
                    <a:pt x="0" y="68470"/>
                    <a:pt x="0" y="54558"/>
                  </a:cubicBezTo>
                  <a:lnTo>
                    <a:pt x="0" y="52456"/>
                  </a:lnTo>
                  <a:cubicBezTo>
                    <a:pt x="0" y="23485"/>
                    <a:pt x="23485" y="0"/>
                    <a:pt x="524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04912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10716640" y="4123245"/>
            <a:ext cx="8446721" cy="844672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2342976" y="5674491"/>
            <a:ext cx="4916324" cy="4871631"/>
          </a:xfrm>
          <a:custGeom>
            <a:avLst/>
            <a:gdLst/>
            <a:ahLst/>
            <a:cxnLst/>
            <a:rect l="l" t="t" r="r" b="b"/>
            <a:pathLst>
              <a:path w="4916324" h="4871631">
                <a:moveTo>
                  <a:pt x="0" y="0"/>
                </a:moveTo>
                <a:lnTo>
                  <a:pt x="4916324" y="0"/>
                </a:lnTo>
                <a:lnTo>
                  <a:pt x="4916324" y="4871631"/>
                </a:lnTo>
                <a:lnTo>
                  <a:pt x="0" y="487163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 rot="0">
            <a:off x="-947028" y="1028700"/>
            <a:ext cx="3951455" cy="395145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8" name="Freeform 18"/>
          <p:cNvSpPr/>
          <p:nvPr/>
        </p:nvSpPr>
        <p:spPr>
          <a:xfrm>
            <a:off x="781124" y="5674491"/>
            <a:ext cx="8362876" cy="3846923"/>
          </a:xfrm>
          <a:custGeom>
            <a:avLst/>
            <a:gdLst/>
            <a:ahLst/>
            <a:cxnLst/>
            <a:rect l="l" t="t" r="r" b="b"/>
            <a:pathLst>
              <a:path w="8362876" h="3846923">
                <a:moveTo>
                  <a:pt x="0" y="0"/>
                </a:moveTo>
                <a:lnTo>
                  <a:pt x="8362876" y="0"/>
                </a:lnTo>
                <a:lnTo>
                  <a:pt x="8362876" y="3846923"/>
                </a:lnTo>
                <a:lnTo>
                  <a:pt x="0" y="3846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6932050" y="1530213"/>
            <a:ext cx="8228289" cy="3538164"/>
          </a:xfrm>
          <a:custGeom>
            <a:avLst/>
            <a:gdLst/>
            <a:ahLst/>
            <a:cxnLst/>
            <a:rect l="l" t="t" r="r" b="b"/>
            <a:pathLst>
              <a:path w="8228289" h="3538164">
                <a:moveTo>
                  <a:pt x="0" y="0"/>
                </a:moveTo>
                <a:lnTo>
                  <a:pt x="8228288" y="0"/>
                </a:lnTo>
                <a:lnTo>
                  <a:pt x="8228288" y="3538164"/>
                </a:lnTo>
                <a:lnTo>
                  <a:pt x="0" y="35381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612984" y="787591"/>
            <a:ext cx="8536902" cy="142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30"/>
              </a:lnSpc>
            </a:pPr>
            <a:r>
              <a:rPr lang="en-US" sz="5265">
                <a:solidFill>
                  <a:srgbClr val="FFFFFF"/>
                </a:solidFill>
                <a:latin typeface="Sniglet" panose="04070505030100020000"/>
                <a:ea typeface="Sniglet" panose="04070505030100020000"/>
                <a:cs typeface="Sniglet" panose="04070505030100020000"/>
                <a:sym typeface="Sniglet" panose="04070505030100020000"/>
              </a:rPr>
              <a:t> Concurență și sincronizare</a:t>
            </a:r>
            <a:endParaRPr lang="en-US" sz="5265">
              <a:solidFill>
                <a:srgbClr val="FFFFFF"/>
              </a:solidFill>
              <a:latin typeface="Sniglet" panose="04070505030100020000"/>
              <a:ea typeface="Sniglet" panose="04070505030100020000"/>
              <a:cs typeface="Sniglet" panose="04070505030100020000"/>
              <a:sym typeface="Sniglet" panose="04070505030100020000"/>
            </a:endParaRPr>
          </a:p>
          <a:p>
            <a:pPr marL="0" lvl="0" indent="0" algn="l">
              <a:lnSpc>
                <a:spcPts val="5530"/>
              </a:lnSpc>
              <a:spcBef>
                <a:spcPct val="0"/>
              </a:spcBef>
            </a:pPr>
          </a:p>
        </p:txBody>
      </p:sp>
      <p:sp>
        <p:nvSpPr>
          <p:cNvPr id="21" name="TextBox 21"/>
          <p:cNvSpPr txBox="1"/>
          <p:nvPr/>
        </p:nvSpPr>
        <p:spPr>
          <a:xfrm>
            <a:off x="2706785" y="1943175"/>
            <a:ext cx="8009856" cy="6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b="1">
                <a:solidFill>
                  <a:srgbClr val="1B444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ThreadPool în Master</a:t>
            </a:r>
            <a:endParaRPr lang="en-US" sz="1900" b="1">
              <a:solidFill>
                <a:srgbClr val="1B44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just">
              <a:lnSpc>
                <a:spcPts val="2660"/>
              </a:lnSpc>
            </a:pPr>
          </a:p>
        </p:txBody>
      </p:sp>
      <p:sp>
        <p:nvSpPr>
          <p:cNvPr id="22" name="TextBox 22"/>
          <p:cNvSpPr txBox="1"/>
          <p:nvPr/>
        </p:nvSpPr>
        <p:spPr>
          <a:xfrm>
            <a:off x="2156911" y="1988974"/>
            <a:ext cx="404286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</a:t>
            </a:r>
            <a:endParaRPr lang="en-US" sz="16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06785" y="2488005"/>
            <a:ext cx="8009856" cy="6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b="1">
                <a:solidFill>
                  <a:srgbClr val="1B444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Procese Worker</a:t>
            </a:r>
            <a:endParaRPr lang="en-US" sz="1900" b="1">
              <a:solidFill>
                <a:srgbClr val="1B44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just">
              <a:lnSpc>
                <a:spcPts val="2660"/>
              </a:lnSpc>
            </a:pPr>
          </a:p>
        </p:txBody>
      </p:sp>
      <p:sp>
        <p:nvSpPr>
          <p:cNvPr id="24" name="TextBox 24"/>
          <p:cNvSpPr txBox="1"/>
          <p:nvPr/>
        </p:nvSpPr>
        <p:spPr>
          <a:xfrm>
            <a:off x="2156911" y="2497530"/>
            <a:ext cx="404286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2</a:t>
            </a:r>
            <a:endParaRPr lang="en-US" sz="16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2706785" y="2984015"/>
            <a:ext cx="8009856" cy="6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b="1">
                <a:solidFill>
                  <a:srgbClr val="1B444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ThreadPool în Worker</a:t>
            </a:r>
            <a:endParaRPr lang="en-US" sz="1900" b="1">
              <a:solidFill>
                <a:srgbClr val="1B44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just">
              <a:lnSpc>
                <a:spcPts val="2660"/>
              </a:lnSpc>
            </a:pPr>
          </a:p>
        </p:txBody>
      </p:sp>
      <p:sp>
        <p:nvSpPr>
          <p:cNvPr id="26" name="TextBox 26"/>
          <p:cNvSpPr txBox="1"/>
          <p:nvPr/>
        </p:nvSpPr>
        <p:spPr>
          <a:xfrm>
            <a:off x="2159884" y="3016085"/>
            <a:ext cx="404286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3</a:t>
            </a:r>
            <a:endParaRPr lang="en-US" sz="16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2054932" y="2036599"/>
            <a:ext cx="398339" cy="406320"/>
            <a:chOff x="0" y="0"/>
            <a:chExt cx="104912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912" cy="107014"/>
            </a:xfrm>
            <a:custGeom>
              <a:avLst/>
              <a:gdLst/>
              <a:ahLst/>
              <a:cxnLst/>
              <a:rect l="l" t="t" r="r" b="b"/>
              <a:pathLst>
                <a:path w="104912" h="107014">
                  <a:moveTo>
                    <a:pt x="52456" y="0"/>
                  </a:moveTo>
                  <a:lnTo>
                    <a:pt x="52456" y="0"/>
                  </a:lnTo>
                  <a:cubicBezTo>
                    <a:pt x="66368" y="0"/>
                    <a:pt x="79711" y="5527"/>
                    <a:pt x="89548" y="15364"/>
                  </a:cubicBezTo>
                  <a:cubicBezTo>
                    <a:pt x="99386" y="25201"/>
                    <a:pt x="104912" y="38544"/>
                    <a:pt x="104912" y="52456"/>
                  </a:cubicBezTo>
                  <a:lnTo>
                    <a:pt x="104912" y="54558"/>
                  </a:lnTo>
                  <a:cubicBezTo>
                    <a:pt x="104912" y="83529"/>
                    <a:pt x="81427" y="107014"/>
                    <a:pt x="52456" y="107014"/>
                  </a:cubicBezTo>
                  <a:lnTo>
                    <a:pt x="52456" y="107014"/>
                  </a:lnTo>
                  <a:cubicBezTo>
                    <a:pt x="38544" y="107014"/>
                    <a:pt x="25201" y="101488"/>
                    <a:pt x="15364" y="91650"/>
                  </a:cubicBezTo>
                  <a:cubicBezTo>
                    <a:pt x="5527" y="81813"/>
                    <a:pt x="0" y="68470"/>
                    <a:pt x="0" y="54558"/>
                  </a:cubicBezTo>
                  <a:lnTo>
                    <a:pt x="0" y="52456"/>
                  </a:lnTo>
                  <a:cubicBezTo>
                    <a:pt x="0" y="23485"/>
                    <a:pt x="23485" y="0"/>
                    <a:pt x="524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04912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960715" y="3920085"/>
            <a:ext cx="398339" cy="406320"/>
            <a:chOff x="0" y="0"/>
            <a:chExt cx="104912" cy="1070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4912" cy="107014"/>
            </a:xfrm>
            <a:custGeom>
              <a:avLst/>
              <a:gdLst/>
              <a:ahLst/>
              <a:cxnLst/>
              <a:rect l="l" t="t" r="r" b="b"/>
              <a:pathLst>
                <a:path w="104912" h="107014">
                  <a:moveTo>
                    <a:pt x="52456" y="0"/>
                  </a:moveTo>
                  <a:lnTo>
                    <a:pt x="52456" y="0"/>
                  </a:lnTo>
                  <a:cubicBezTo>
                    <a:pt x="66368" y="0"/>
                    <a:pt x="79711" y="5527"/>
                    <a:pt x="89548" y="15364"/>
                  </a:cubicBezTo>
                  <a:cubicBezTo>
                    <a:pt x="99386" y="25201"/>
                    <a:pt x="104912" y="38544"/>
                    <a:pt x="104912" y="52456"/>
                  </a:cubicBezTo>
                  <a:lnTo>
                    <a:pt x="104912" y="54558"/>
                  </a:lnTo>
                  <a:cubicBezTo>
                    <a:pt x="104912" y="83529"/>
                    <a:pt x="81427" y="107014"/>
                    <a:pt x="52456" y="107014"/>
                  </a:cubicBezTo>
                  <a:lnTo>
                    <a:pt x="52456" y="107014"/>
                  </a:lnTo>
                  <a:cubicBezTo>
                    <a:pt x="38544" y="107014"/>
                    <a:pt x="25201" y="101488"/>
                    <a:pt x="15364" y="91650"/>
                  </a:cubicBezTo>
                  <a:cubicBezTo>
                    <a:pt x="5527" y="81813"/>
                    <a:pt x="0" y="68470"/>
                    <a:pt x="0" y="54558"/>
                  </a:cubicBezTo>
                  <a:lnTo>
                    <a:pt x="0" y="52456"/>
                  </a:lnTo>
                  <a:cubicBezTo>
                    <a:pt x="0" y="23485"/>
                    <a:pt x="23485" y="0"/>
                    <a:pt x="524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04912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855762" y="4296523"/>
            <a:ext cx="398339" cy="406320"/>
            <a:chOff x="0" y="0"/>
            <a:chExt cx="104912" cy="1070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912" cy="107014"/>
            </a:xfrm>
            <a:custGeom>
              <a:avLst/>
              <a:gdLst/>
              <a:ahLst/>
              <a:cxnLst/>
              <a:rect l="l" t="t" r="r" b="b"/>
              <a:pathLst>
                <a:path w="104912" h="107014">
                  <a:moveTo>
                    <a:pt x="52456" y="0"/>
                  </a:moveTo>
                  <a:lnTo>
                    <a:pt x="52456" y="0"/>
                  </a:lnTo>
                  <a:cubicBezTo>
                    <a:pt x="66368" y="0"/>
                    <a:pt x="79711" y="5527"/>
                    <a:pt x="89548" y="15364"/>
                  </a:cubicBezTo>
                  <a:cubicBezTo>
                    <a:pt x="99386" y="25201"/>
                    <a:pt x="104912" y="38544"/>
                    <a:pt x="104912" y="52456"/>
                  </a:cubicBezTo>
                  <a:lnTo>
                    <a:pt x="104912" y="54558"/>
                  </a:lnTo>
                  <a:cubicBezTo>
                    <a:pt x="104912" y="83529"/>
                    <a:pt x="81427" y="107014"/>
                    <a:pt x="52456" y="107014"/>
                  </a:cubicBezTo>
                  <a:lnTo>
                    <a:pt x="52456" y="107014"/>
                  </a:lnTo>
                  <a:cubicBezTo>
                    <a:pt x="38544" y="107014"/>
                    <a:pt x="25201" y="101488"/>
                    <a:pt x="15364" y="91650"/>
                  </a:cubicBezTo>
                  <a:cubicBezTo>
                    <a:pt x="5527" y="81813"/>
                    <a:pt x="0" y="68470"/>
                    <a:pt x="0" y="54558"/>
                  </a:cubicBezTo>
                  <a:lnTo>
                    <a:pt x="0" y="52456"/>
                  </a:lnTo>
                  <a:cubicBezTo>
                    <a:pt x="0" y="23485"/>
                    <a:pt x="23485" y="0"/>
                    <a:pt x="5245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04912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10716640" y="4123245"/>
            <a:ext cx="8446721" cy="844672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-947028" y="1028700"/>
            <a:ext cx="3951455" cy="395145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7" name="Freeform 17"/>
          <p:cNvSpPr/>
          <p:nvPr/>
        </p:nvSpPr>
        <p:spPr>
          <a:xfrm>
            <a:off x="164303" y="3962624"/>
            <a:ext cx="8979697" cy="3490857"/>
          </a:xfrm>
          <a:custGeom>
            <a:avLst/>
            <a:gdLst/>
            <a:ahLst/>
            <a:cxnLst/>
            <a:rect l="l" t="t" r="r" b="b"/>
            <a:pathLst>
              <a:path w="8979697" h="3490857">
                <a:moveTo>
                  <a:pt x="0" y="0"/>
                </a:moveTo>
                <a:lnTo>
                  <a:pt x="8979697" y="0"/>
                </a:lnTo>
                <a:lnTo>
                  <a:pt x="8979697" y="3490857"/>
                </a:lnTo>
                <a:lnTo>
                  <a:pt x="0" y="3490857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244546" y="1799571"/>
            <a:ext cx="7014754" cy="4392990"/>
          </a:xfrm>
          <a:custGeom>
            <a:avLst/>
            <a:gdLst/>
            <a:ahLst/>
            <a:cxnLst/>
            <a:rect l="l" t="t" r="r" b="b"/>
            <a:pathLst>
              <a:path w="7014754" h="4392990">
                <a:moveTo>
                  <a:pt x="0" y="0"/>
                </a:moveTo>
                <a:lnTo>
                  <a:pt x="7014754" y="0"/>
                </a:lnTo>
                <a:lnTo>
                  <a:pt x="7014754" y="4392990"/>
                </a:lnTo>
                <a:lnTo>
                  <a:pt x="0" y="4392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21269" y="600303"/>
            <a:ext cx="11979912" cy="3522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30"/>
              </a:lnSpc>
            </a:pPr>
            <a:r>
              <a:rPr lang="en-US" sz="5265">
                <a:solidFill>
                  <a:srgbClr val="FFFFFF"/>
                </a:solidFill>
                <a:latin typeface="Sniglet" panose="04070505030100020000"/>
                <a:ea typeface="Sniglet" panose="04070505030100020000"/>
                <a:cs typeface="Sniglet" panose="04070505030100020000"/>
                <a:sym typeface="Sniglet" panose="04070505030100020000"/>
              </a:rPr>
              <a:t> Concurență și sincronizare</a:t>
            </a:r>
            <a:endParaRPr lang="en-US" sz="5265">
              <a:solidFill>
                <a:srgbClr val="FFFFFF"/>
              </a:solidFill>
              <a:latin typeface="Sniglet" panose="04070505030100020000"/>
              <a:ea typeface="Sniglet" panose="04070505030100020000"/>
              <a:cs typeface="Sniglet" panose="04070505030100020000"/>
              <a:sym typeface="Sniglet" panose="04070505030100020000"/>
            </a:endParaRPr>
          </a:p>
          <a:p>
            <a:pPr algn="l">
              <a:lnSpc>
                <a:spcPts val="5530"/>
              </a:lnSpc>
            </a:pPr>
            <a:r>
              <a:rPr lang="en-US" sz="5265">
                <a:solidFill>
                  <a:srgbClr val="FFFFFF"/>
                </a:solidFill>
                <a:latin typeface="Sniglet" panose="04070505030100020000"/>
                <a:ea typeface="Sniglet" panose="04070505030100020000"/>
                <a:cs typeface="Sniglet" panose="04070505030100020000"/>
                <a:sym typeface="Sniglet" panose="04070505030100020000"/>
              </a:rPr>
              <a:t>IPC: SharedQueue (shared memory + semafoare)</a:t>
            </a:r>
            <a:endParaRPr lang="en-US" sz="5265">
              <a:solidFill>
                <a:srgbClr val="FFFFFF"/>
              </a:solidFill>
              <a:latin typeface="Sniglet" panose="04070505030100020000"/>
              <a:ea typeface="Sniglet" panose="04070505030100020000"/>
              <a:cs typeface="Sniglet" panose="04070505030100020000"/>
              <a:sym typeface="Sniglet" panose="04070505030100020000"/>
            </a:endParaRPr>
          </a:p>
          <a:p>
            <a:pPr algn="l">
              <a:lnSpc>
                <a:spcPts val="5530"/>
              </a:lnSpc>
            </a:pPr>
          </a:p>
          <a:p>
            <a:pPr marL="0" lvl="0" indent="0" algn="l">
              <a:lnSpc>
                <a:spcPts val="5530"/>
              </a:lnSpc>
              <a:spcBef>
                <a:spcPct val="0"/>
              </a:spcBef>
            </a:pPr>
          </a:p>
        </p:txBody>
      </p:sp>
      <p:sp>
        <p:nvSpPr>
          <p:cNvPr id="20" name="TextBox 20"/>
          <p:cNvSpPr txBox="1"/>
          <p:nvPr/>
        </p:nvSpPr>
        <p:spPr>
          <a:xfrm>
            <a:off x="521269" y="2947278"/>
            <a:ext cx="8009856" cy="6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b="1">
                <a:solidFill>
                  <a:srgbClr val="1B444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Sincronizare: semafoare</a:t>
            </a:r>
            <a:endParaRPr lang="en-US" sz="1900" b="1">
              <a:solidFill>
                <a:srgbClr val="1B44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just">
              <a:lnSpc>
                <a:spcPts val="2660"/>
              </a:lnSpc>
            </a:pPr>
          </a:p>
        </p:txBody>
      </p:sp>
      <p:sp>
        <p:nvSpPr>
          <p:cNvPr id="21" name="TextBox 21"/>
          <p:cNvSpPr txBox="1"/>
          <p:nvPr/>
        </p:nvSpPr>
        <p:spPr>
          <a:xfrm>
            <a:off x="777179" y="7720181"/>
            <a:ext cx="7753945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2.SharedQueue: cozi circulare + semafoare producer/consumer</a:t>
            </a:r>
            <a:endParaRPr lang="en-US" sz="1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084812" y="6324394"/>
            <a:ext cx="5334223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Semaforul semBin joacă rol de mutex global</a:t>
            </a:r>
            <a:endParaRPr lang="en-US" sz="1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893294" y="6798493"/>
            <a:ext cx="7717259" cy="342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Pattern-ul empty/full este pattern-ul clasic producer-consumer</a:t>
            </a:r>
            <a:endParaRPr lang="en-US" sz="1900">
              <a:solidFill>
                <a:srgbClr val="00000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028700" y="656694"/>
            <a:ext cx="2357470" cy="406320"/>
            <a:chOff x="0" y="0"/>
            <a:chExt cx="620898" cy="1070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4442150" y="656694"/>
            <a:ext cx="2817150" cy="406320"/>
            <a:chOff x="0" y="0"/>
            <a:chExt cx="741965" cy="1070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341018" y="2901342"/>
            <a:ext cx="6362972" cy="636297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4231421"/>
            <a:ext cx="4254023" cy="4114800"/>
          </a:xfrm>
          <a:custGeom>
            <a:avLst/>
            <a:gdLst/>
            <a:ahLst/>
            <a:cxnLst/>
            <a:rect l="l" t="t" r="r" b="b"/>
            <a:pathLst>
              <a:path w="4254023" h="4114800">
                <a:moveTo>
                  <a:pt x="0" y="0"/>
                </a:moveTo>
                <a:lnTo>
                  <a:pt x="4254023" y="0"/>
                </a:lnTo>
                <a:lnTo>
                  <a:pt x="42540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551149" flipH="1">
            <a:off x="14745450" y="1681502"/>
            <a:ext cx="3920282" cy="4114800"/>
          </a:xfrm>
          <a:custGeom>
            <a:avLst/>
            <a:gdLst/>
            <a:ahLst/>
            <a:cxnLst/>
            <a:rect l="l" t="t" r="r" b="b"/>
            <a:pathLst>
              <a:path w="3920282" h="4114800">
                <a:moveTo>
                  <a:pt x="3920282" y="0"/>
                </a:moveTo>
                <a:lnTo>
                  <a:pt x="0" y="0"/>
                </a:lnTo>
                <a:lnTo>
                  <a:pt x="0" y="4114800"/>
                </a:lnTo>
                <a:lnTo>
                  <a:pt x="3920282" y="4114800"/>
                </a:lnTo>
                <a:lnTo>
                  <a:pt x="392028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582721" y="6501929"/>
            <a:ext cx="11301259" cy="2189619"/>
          </a:xfrm>
          <a:custGeom>
            <a:avLst/>
            <a:gdLst/>
            <a:ahLst/>
            <a:cxnLst/>
            <a:rect l="l" t="t" r="r" b="b"/>
            <a:pathLst>
              <a:path w="11301259" h="2189619">
                <a:moveTo>
                  <a:pt x="0" y="0"/>
                </a:moveTo>
                <a:lnTo>
                  <a:pt x="11301259" y="0"/>
                </a:lnTo>
                <a:lnTo>
                  <a:pt x="11301259" y="2189618"/>
                </a:lnTo>
                <a:lnTo>
                  <a:pt x="0" y="2189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48130" y="694436"/>
            <a:ext cx="231861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Ingoude Company</a:t>
            </a:r>
            <a:endParaRPr lang="en-US" sz="16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Home</a:t>
            </a:r>
            <a:endParaRPr lang="en-US" sz="16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Video</a:t>
            </a:r>
            <a:endParaRPr lang="en-US" sz="16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Profile</a:t>
            </a:r>
            <a:endParaRPr lang="en-US" sz="16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889595" y="1409728"/>
            <a:ext cx="11294886" cy="1777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05"/>
              </a:lnSpc>
            </a:pPr>
            <a:r>
              <a:rPr lang="en-US" sz="6575">
                <a:solidFill>
                  <a:srgbClr val="FFFFFF"/>
                </a:solidFill>
                <a:latin typeface="Sniglet" panose="04070505030100020000"/>
                <a:ea typeface="Sniglet" panose="04070505030100020000"/>
                <a:cs typeface="Sniglet" panose="04070505030100020000"/>
                <a:sym typeface="Sniglet" panose="04070505030100020000"/>
              </a:rPr>
              <a:t>Baza de date (SQLite)</a:t>
            </a:r>
            <a:endParaRPr lang="en-US" sz="6575">
              <a:solidFill>
                <a:srgbClr val="FFFFFF"/>
              </a:solidFill>
              <a:latin typeface="Sniglet" panose="04070505030100020000"/>
              <a:ea typeface="Sniglet" panose="04070505030100020000"/>
              <a:cs typeface="Sniglet" panose="04070505030100020000"/>
              <a:sym typeface="Sniglet" panose="04070505030100020000"/>
            </a:endParaRPr>
          </a:p>
          <a:p>
            <a:pPr marL="0" lvl="0" indent="0" algn="l">
              <a:lnSpc>
                <a:spcPts val="6905"/>
              </a:lnSpc>
              <a:spcBef>
                <a:spcPct val="0"/>
              </a:spcBef>
            </a:pPr>
          </a:p>
        </p:txBody>
      </p:sp>
      <p:sp>
        <p:nvSpPr>
          <p:cNvPr id="19" name="TextBox 19"/>
          <p:cNvSpPr txBox="1"/>
          <p:nvPr/>
        </p:nvSpPr>
        <p:spPr>
          <a:xfrm>
            <a:off x="5582721" y="2844192"/>
            <a:ext cx="7122557" cy="200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b="1">
                <a:solidFill>
                  <a:srgbClr val="1B444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 Concurență</a:t>
            </a:r>
            <a:endParaRPr lang="en-US" sz="1900" b="1">
              <a:solidFill>
                <a:srgbClr val="1B44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Într-un worker, mai multe thread-uri pot face simultan operații DB. De aceea, clasa Database are un pthread_mutex_t care serializează operațiile pe conexiunea sqlite3*.</a:t>
            </a:r>
            <a:endParaRPr lang="en-US" sz="19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2660"/>
              </a:lnSpc>
            </a:pPr>
          </a:p>
        </p:txBody>
      </p:sp>
      <p:sp>
        <p:nvSpPr>
          <p:cNvPr id="20" name="TextBox 20"/>
          <p:cNvSpPr txBox="1"/>
          <p:nvPr/>
        </p:nvSpPr>
        <p:spPr>
          <a:xfrm>
            <a:off x="5834222" y="5086350"/>
            <a:ext cx="7122557" cy="167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b="1">
                <a:solidFill>
                  <a:srgbClr val="1B444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Schema bazei de date</a:t>
            </a:r>
            <a:endParaRPr lang="en-US" sz="1900" b="1">
              <a:solidFill>
                <a:srgbClr val="1B44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Fișierul principal folosit de Repository este data.db (vezi Repository::Repository()). Tabela principală este users(id, name).</a:t>
            </a:r>
            <a:endParaRPr lang="en-US" sz="19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266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581722" y="-652517"/>
            <a:ext cx="2789157" cy="278915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028700" y="656694"/>
            <a:ext cx="2357470" cy="406320"/>
            <a:chOff x="0" y="0"/>
            <a:chExt cx="620898" cy="1070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0898" cy="107014"/>
            </a:xfrm>
            <a:custGeom>
              <a:avLst/>
              <a:gdLst/>
              <a:ahLst/>
              <a:cxnLst/>
              <a:rect l="l" t="t" r="r" b="b"/>
              <a:pathLst>
                <a:path w="620898" h="107014">
                  <a:moveTo>
                    <a:pt x="53507" y="0"/>
                  </a:moveTo>
                  <a:lnTo>
                    <a:pt x="567390" y="0"/>
                  </a:lnTo>
                  <a:cubicBezTo>
                    <a:pt x="596942" y="0"/>
                    <a:pt x="620898" y="23956"/>
                    <a:pt x="620898" y="53507"/>
                  </a:cubicBezTo>
                  <a:lnTo>
                    <a:pt x="620898" y="53507"/>
                  </a:lnTo>
                  <a:cubicBezTo>
                    <a:pt x="620898" y="83058"/>
                    <a:pt x="596942" y="107014"/>
                    <a:pt x="567390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620898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14442150" y="656694"/>
            <a:ext cx="2817150" cy="406320"/>
            <a:chOff x="0" y="0"/>
            <a:chExt cx="741965" cy="10701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41965" cy="107014"/>
            </a:xfrm>
            <a:custGeom>
              <a:avLst/>
              <a:gdLst/>
              <a:ahLst/>
              <a:cxnLst/>
              <a:rect l="l" t="t" r="r" b="b"/>
              <a:pathLst>
                <a:path w="741965" h="107014">
                  <a:moveTo>
                    <a:pt x="53507" y="0"/>
                  </a:moveTo>
                  <a:lnTo>
                    <a:pt x="688458" y="0"/>
                  </a:lnTo>
                  <a:cubicBezTo>
                    <a:pt x="718009" y="0"/>
                    <a:pt x="741965" y="23956"/>
                    <a:pt x="741965" y="53507"/>
                  </a:cubicBezTo>
                  <a:lnTo>
                    <a:pt x="741965" y="53507"/>
                  </a:lnTo>
                  <a:cubicBezTo>
                    <a:pt x="741965" y="83058"/>
                    <a:pt x="718009" y="107014"/>
                    <a:pt x="688458" y="107014"/>
                  </a:cubicBezTo>
                  <a:lnTo>
                    <a:pt x="53507" y="107014"/>
                  </a:lnTo>
                  <a:cubicBezTo>
                    <a:pt x="23956" y="107014"/>
                    <a:pt x="0" y="83058"/>
                    <a:pt x="0" y="53507"/>
                  </a:cubicBezTo>
                  <a:lnTo>
                    <a:pt x="0" y="53507"/>
                  </a:lnTo>
                  <a:cubicBezTo>
                    <a:pt x="0" y="23956"/>
                    <a:pt x="23956" y="0"/>
                    <a:pt x="535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100000">
                  <a:srgbClr val="DBD2EA">
                    <a:alpha val="71500"/>
                  </a:srgbClr>
                </a:gs>
              </a:gsLst>
              <a:lin ang="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741965" cy="164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11382716" y="2559482"/>
            <a:ext cx="6362972" cy="6362972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4296661" y="1416531"/>
            <a:ext cx="1942268" cy="2789157"/>
          </a:xfrm>
          <a:custGeom>
            <a:avLst/>
            <a:gdLst/>
            <a:ahLst/>
            <a:cxnLst/>
            <a:rect l="l" t="t" r="r" b="b"/>
            <a:pathLst>
              <a:path w="1942268" h="2789157">
                <a:moveTo>
                  <a:pt x="0" y="0"/>
                </a:moveTo>
                <a:lnTo>
                  <a:pt x="1942268" y="0"/>
                </a:lnTo>
                <a:lnTo>
                  <a:pt x="1942268" y="2789157"/>
                </a:lnTo>
                <a:lnTo>
                  <a:pt x="0" y="278915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573446">
            <a:off x="-1199208" y="6665144"/>
            <a:ext cx="4024128" cy="3877796"/>
          </a:xfrm>
          <a:custGeom>
            <a:avLst/>
            <a:gdLst/>
            <a:ahLst/>
            <a:cxnLst/>
            <a:rect l="l" t="t" r="r" b="b"/>
            <a:pathLst>
              <a:path w="4024128" h="3877796">
                <a:moveTo>
                  <a:pt x="0" y="0"/>
                </a:moveTo>
                <a:lnTo>
                  <a:pt x="4024129" y="0"/>
                </a:lnTo>
                <a:lnTo>
                  <a:pt x="4024129" y="3877797"/>
                </a:lnTo>
                <a:lnTo>
                  <a:pt x="0" y="38777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48130" y="694436"/>
            <a:ext cx="231861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Ingoude Company</a:t>
            </a:r>
            <a:endParaRPr lang="en-US" sz="16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564202" y="694436"/>
            <a:ext cx="751598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Home</a:t>
            </a:r>
            <a:endParaRPr lang="en-US" sz="16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407265" y="694436"/>
            <a:ext cx="83166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Video</a:t>
            </a:r>
            <a:endParaRPr lang="en-US" sz="16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6282708" y="694436"/>
            <a:ext cx="854540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Profile</a:t>
            </a:r>
            <a:endParaRPr lang="en-US" sz="16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676316" y="1329020"/>
            <a:ext cx="12668350" cy="407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7600">
                <a:solidFill>
                  <a:srgbClr val="FFFFFF"/>
                </a:solidFill>
                <a:latin typeface="Sniglet" panose="04070505030100020000"/>
                <a:ea typeface="Sniglet" panose="04070505030100020000"/>
                <a:cs typeface="Sniglet" panose="04070505030100020000"/>
                <a:sym typeface="Sniglet" panose="04070505030100020000"/>
              </a:rPr>
              <a:t>Walkthrough pe endpoint-uri -Stratul HTTP</a:t>
            </a:r>
            <a:endParaRPr lang="en-US" sz="7600">
              <a:solidFill>
                <a:srgbClr val="FFFFFF"/>
              </a:solidFill>
              <a:latin typeface="Sniglet" panose="04070505030100020000"/>
              <a:ea typeface="Sniglet" panose="04070505030100020000"/>
              <a:cs typeface="Sniglet" panose="04070505030100020000"/>
              <a:sym typeface="Sniglet" panose="04070505030100020000"/>
            </a:endParaRPr>
          </a:p>
          <a:p>
            <a:pPr algn="l">
              <a:lnSpc>
                <a:spcPts val="7980"/>
              </a:lnSpc>
            </a:pPr>
          </a:p>
          <a:p>
            <a:pPr marL="0" lvl="0" indent="0" algn="l">
              <a:lnSpc>
                <a:spcPts val="7980"/>
              </a:lnSpc>
              <a:spcBef>
                <a:spcPct val="0"/>
              </a:spcBef>
            </a:pPr>
          </a:p>
        </p:txBody>
      </p:sp>
      <p:sp>
        <p:nvSpPr>
          <p:cNvPr id="21" name="TextBox 21"/>
          <p:cNvSpPr txBox="1"/>
          <p:nvPr/>
        </p:nvSpPr>
        <p:spPr>
          <a:xfrm>
            <a:off x="1676316" y="3246189"/>
            <a:ext cx="13263685" cy="567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 b="1">
                <a:solidFill>
                  <a:srgbClr val="1B444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9.1. GET /users</a:t>
            </a:r>
            <a:endParaRPr lang="en-US" sz="1900" b="1">
              <a:solidFill>
                <a:srgbClr val="1B44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Controller detectează prefixul „GET /users” și apelează Service::handleGetUsers().</a:t>
            </a:r>
            <a:endParaRPr lang="en-US" sz="19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Service cere lista de nume de la Repository::getUsers() → Database::getAllUsers().</a:t>
            </a:r>
            <a:endParaRPr lang="en-US" sz="19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Rezultatul este formatat ca JSON array, ex: ["Ana","Mihai"]. Dacă nu există utilizatori, răspunsul este un obiect JSON cu mesaj.</a:t>
            </a:r>
            <a:endParaRPr lang="en-US" sz="19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2660"/>
              </a:lnSpc>
            </a:pPr>
            <a:r>
              <a:rPr lang="en-US" sz="1900" b="1">
                <a:solidFill>
                  <a:srgbClr val="1B444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9.2. POST /users (body: name=...)</a:t>
            </a:r>
            <a:endParaRPr lang="en-US" sz="1900" b="1">
              <a:solidFill>
                <a:srgbClr val="1B44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Controller extrage body-ul după \r\n\r\n și verifică dacă începe cu name=. Numele este substring-ul de după 'name='.</a:t>
            </a:r>
            <a:endParaRPr lang="en-US" sz="19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Service::handleAddUser() → Repository::addUser() → Database::addUser().</a:t>
            </a:r>
            <a:endParaRPr lang="en-US" sz="19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2660"/>
              </a:lnSpc>
            </a:pPr>
            <a:r>
              <a:rPr lang="en-US" sz="1900" b="1">
                <a:solidFill>
                  <a:srgbClr val="1B444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9.3. DELETE /users (body: name=...)</a:t>
            </a:r>
            <a:endParaRPr lang="en-US" sz="1900" b="1">
              <a:solidFill>
                <a:srgbClr val="1B44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Controller extrage name și cheamă Service::handleDeleteUserByName(name).</a:t>
            </a:r>
            <a:endParaRPr lang="en-US" sz="19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Database::deleteUserByName returnează câte rânduri au fost șterse (folosește sqlite3_total_changes înainte/după).</a:t>
            </a:r>
            <a:endParaRPr lang="en-US" sz="19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2660"/>
              </a:lnSpc>
            </a:pPr>
            <a:r>
              <a:rPr lang="en-US" sz="1900" b="1">
                <a:solidFill>
                  <a:srgbClr val="1B444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9.4. PUT /users (body: old=...&amp;new=...)</a:t>
            </a:r>
            <a:endParaRPr lang="en-US" sz="1900" b="1">
              <a:solidFill>
                <a:srgbClr val="1B44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Controller parsează două perechi vechi/nou separate prin &amp;.</a:t>
            </a:r>
            <a:endParaRPr lang="en-US" sz="19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1B44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Database::updateUserByName returnează numărul de rânduri modificate.</a:t>
            </a:r>
            <a:endParaRPr lang="en-US" sz="1900">
              <a:solidFill>
                <a:srgbClr val="1B44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just">
              <a:lnSpc>
                <a:spcPts val="266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46563" y="5143500"/>
            <a:ext cx="3725764" cy="4114800"/>
          </a:xfrm>
          <a:custGeom>
            <a:avLst/>
            <a:gdLst/>
            <a:ahLst/>
            <a:cxnLst/>
            <a:rect l="l" t="t" r="r" b="b"/>
            <a:pathLst>
              <a:path w="3725764" h="4114800">
                <a:moveTo>
                  <a:pt x="0" y="0"/>
                </a:moveTo>
                <a:lnTo>
                  <a:pt x="3725765" y="0"/>
                </a:lnTo>
                <a:lnTo>
                  <a:pt x="37257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731706" y="3206047"/>
            <a:ext cx="11332762" cy="287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70"/>
              </a:lnSpc>
            </a:pPr>
            <a:r>
              <a:rPr lang="en-US" sz="10640">
                <a:solidFill>
                  <a:srgbClr val="FFFFFF"/>
                </a:solidFill>
                <a:latin typeface="Sniglet" panose="04070505030100020000"/>
                <a:ea typeface="Sniglet" panose="04070505030100020000"/>
                <a:cs typeface="Sniglet" panose="04070505030100020000"/>
                <a:sym typeface="Sniglet" panose="04070505030100020000"/>
              </a:rPr>
              <a:t>Compilare și rulare</a:t>
            </a:r>
            <a:endParaRPr lang="en-US" sz="10640">
              <a:solidFill>
                <a:srgbClr val="FFFFFF"/>
              </a:solidFill>
              <a:latin typeface="Sniglet" panose="04070505030100020000"/>
              <a:ea typeface="Sniglet" panose="04070505030100020000"/>
              <a:cs typeface="Sniglet" panose="04070505030100020000"/>
              <a:sym typeface="Sniglet" panose="04070505030100020000"/>
            </a:endParaRPr>
          </a:p>
          <a:p>
            <a:pPr marL="0" lvl="0" indent="0" algn="ctr">
              <a:lnSpc>
                <a:spcPts val="11170"/>
              </a:lnSpc>
              <a:spcBef>
                <a:spcPct val="0"/>
              </a:spcBef>
            </a:pPr>
          </a:p>
        </p:txBody>
      </p:sp>
      <p:sp>
        <p:nvSpPr>
          <p:cNvPr id="4" name="Freeform 4"/>
          <p:cNvSpPr/>
          <p:nvPr/>
        </p:nvSpPr>
        <p:spPr>
          <a:xfrm>
            <a:off x="0" y="1028700"/>
            <a:ext cx="2874126" cy="2602391"/>
          </a:xfrm>
          <a:custGeom>
            <a:avLst/>
            <a:gdLst/>
            <a:ahLst/>
            <a:cxnLst/>
            <a:rect l="l" t="t" r="r" b="b"/>
            <a:pathLst>
              <a:path w="2874126" h="2602391">
                <a:moveTo>
                  <a:pt x="0" y="0"/>
                </a:moveTo>
                <a:lnTo>
                  <a:pt x="2874126" y="0"/>
                </a:lnTo>
                <a:lnTo>
                  <a:pt x="2874126" y="2602391"/>
                </a:lnTo>
                <a:lnTo>
                  <a:pt x="0" y="26023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31061" y="5877293"/>
            <a:ext cx="5401289" cy="4114800"/>
          </a:xfrm>
          <a:custGeom>
            <a:avLst/>
            <a:gdLst/>
            <a:ahLst/>
            <a:cxnLst/>
            <a:rect l="l" t="t" r="r" b="b"/>
            <a:pathLst>
              <a:path w="5401289" h="4114800">
                <a:moveTo>
                  <a:pt x="0" y="0"/>
                </a:moveTo>
                <a:lnTo>
                  <a:pt x="5401289" y="0"/>
                </a:lnTo>
                <a:lnTo>
                  <a:pt x="54012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CDE5">
                <a:alpha val="43500"/>
              </a:srgbClr>
            </a:gs>
            <a:gs pos="33333">
              <a:srgbClr val="D5FFF8">
                <a:alpha val="46000"/>
              </a:srgbClr>
            </a:gs>
            <a:gs pos="66667">
              <a:srgbClr val="BBB2FF">
                <a:alpha val="39500"/>
              </a:srgbClr>
            </a:gs>
            <a:gs pos="100000">
              <a:srgbClr val="FFF6CC">
                <a:alpha val="5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651848" y="1662597"/>
            <a:ext cx="7159374" cy="715937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16709978" y="8831030"/>
            <a:ext cx="2209811" cy="220981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CE9F3">
                    <a:alpha val="75500"/>
                  </a:srgbClr>
                </a:gs>
                <a:gs pos="33333">
                  <a:srgbClr val="DBD2EA">
                    <a:alpha val="71500"/>
                  </a:srgbClr>
                </a:gs>
                <a:gs pos="66667">
                  <a:srgbClr val="B8DFED">
                    <a:alpha val="71500"/>
                  </a:srgbClr>
                </a:gs>
                <a:gs pos="100000">
                  <a:srgbClr val="9FA0DF">
                    <a:alpha val="715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8" name="Freeform 8"/>
          <p:cNvSpPr/>
          <p:nvPr/>
        </p:nvSpPr>
        <p:spPr>
          <a:xfrm rot="-2164409" flipH="1">
            <a:off x="15033166" y="3086131"/>
            <a:ext cx="2499084" cy="3027524"/>
          </a:xfrm>
          <a:custGeom>
            <a:avLst/>
            <a:gdLst/>
            <a:ahLst/>
            <a:cxnLst/>
            <a:rect l="l" t="t" r="r" b="b"/>
            <a:pathLst>
              <a:path w="2499084" h="3027524">
                <a:moveTo>
                  <a:pt x="2499084" y="0"/>
                </a:moveTo>
                <a:lnTo>
                  <a:pt x="0" y="0"/>
                </a:lnTo>
                <a:lnTo>
                  <a:pt x="0" y="3027525"/>
                </a:lnTo>
                <a:lnTo>
                  <a:pt x="2499084" y="3027525"/>
                </a:lnTo>
                <a:lnTo>
                  <a:pt x="2499084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09597" y="255298"/>
            <a:ext cx="10684594" cy="9776403"/>
          </a:xfrm>
          <a:custGeom>
            <a:avLst/>
            <a:gdLst/>
            <a:ahLst/>
            <a:cxnLst/>
            <a:rect l="l" t="t" r="r" b="b"/>
            <a:pathLst>
              <a:path w="10684594" h="9776403">
                <a:moveTo>
                  <a:pt x="0" y="0"/>
                </a:moveTo>
                <a:lnTo>
                  <a:pt x="10684593" y="0"/>
                </a:lnTo>
                <a:lnTo>
                  <a:pt x="10684593" y="9776404"/>
                </a:lnTo>
                <a:lnTo>
                  <a:pt x="0" y="9776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376302" y="5581904"/>
            <a:ext cx="7812811" cy="205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7600">
                <a:solidFill>
                  <a:srgbClr val="FFFFFF"/>
                </a:solidFill>
                <a:latin typeface="Sniglet" panose="04070505030100020000"/>
                <a:ea typeface="Sniglet" panose="04070505030100020000"/>
                <a:cs typeface="Sniglet" panose="04070505030100020000"/>
                <a:sym typeface="Sniglet" panose="04070505030100020000"/>
              </a:rPr>
              <a:t>Inventar fișiere</a:t>
            </a:r>
            <a:endParaRPr lang="en-US" sz="7600">
              <a:solidFill>
                <a:srgbClr val="FFFFFF"/>
              </a:solidFill>
              <a:latin typeface="Sniglet" panose="04070505030100020000"/>
              <a:ea typeface="Sniglet" panose="04070505030100020000"/>
              <a:cs typeface="Sniglet" panose="04070505030100020000"/>
              <a:sym typeface="Sniglet" panose="04070505030100020000"/>
            </a:endParaRPr>
          </a:p>
          <a:p>
            <a:pPr marL="0" lvl="0" indent="0" algn="l">
              <a:lnSpc>
                <a:spcPts val="79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2874</Words>
  <Application>WPS Presentation</Application>
  <PresentationFormat>On-screen Show (4:3)</PresentationFormat>
  <Paragraphs>151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SimSun</vt:lpstr>
      <vt:lpstr>Wingdings</vt:lpstr>
      <vt:lpstr>Sniglet</vt:lpstr>
      <vt:lpstr>Poppins</vt:lpstr>
      <vt:lpstr>DejaVu Serif Bold</vt:lpstr>
      <vt:lpstr>Poppins 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Pastel Gradient Modern Computer Presentation</dc:title>
  <dc:creator/>
  <cp:lastModifiedBy>WPS_1763284179</cp:lastModifiedBy>
  <cp:revision>2</cp:revision>
  <dcterms:created xsi:type="dcterms:W3CDTF">2006-08-16T00:00:00Z</dcterms:created>
  <dcterms:modified xsi:type="dcterms:W3CDTF">2026-01-08T21:04:01Z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1F0891AACEC54B4AB3914DC148BCFEBD_12</vt:lpwstr>
  </property>
  <property fmtid="{D5CDD505-2E9C-101B-9397-08002B2CF9AE}" pid="3" name="KSOProductBuildVer">
    <vt:lpwstr>1033-12.2.0.23196</vt:lpwstr>
  </property>
</Properties>
</file>